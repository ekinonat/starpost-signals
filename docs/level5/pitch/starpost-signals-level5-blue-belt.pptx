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f4941471042bd" /><Relationship Type="http://schemas.openxmlformats.org/officeDocument/2006/relationships/extended-properties" Target="/docProps/app.xml" Id="R59664ca227d841cd" /><Relationship Type="http://schemas.openxmlformats.org/officeDocument/2006/relationships/officeDocument" Target="/ppt/presentation.xml" Id="R6cf971de477b4a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b1dc06f9484f89"/>
  </p:sldMasterIdLst>
  <p:notesMasterIdLst>
    <p:notesMasterId xmlns:r="http://schemas.openxmlformats.org/officeDocument/2006/relationships" r:id="Rb2b89ed486214da8"/>
  </p:notesMasterIdLst>
  <p:sldIdLst>
    <p:sldId xmlns:r="http://schemas.openxmlformats.org/officeDocument/2006/relationships" id="256" r:id="R8e35bbb685064f00"/>
    <p:sldId xmlns:r="http://schemas.openxmlformats.org/officeDocument/2006/relationships" id="257" r:id="Rc615590dafb349d2"/>
    <p:sldId xmlns:r="http://schemas.openxmlformats.org/officeDocument/2006/relationships" id="258" r:id="R913e5f8219784368"/>
    <p:sldId xmlns:r="http://schemas.openxmlformats.org/officeDocument/2006/relationships" id="259" r:id="R0c6cf9afa98c460e"/>
    <p:sldId xmlns:r="http://schemas.openxmlformats.org/officeDocument/2006/relationships" id="260" r:id="Re0091f4f600440a6"/>
    <p:sldId xmlns:r="http://schemas.openxmlformats.org/officeDocument/2006/relationships" id="261" r:id="Ra833ec888bbb4d4e"/>
    <p:sldId xmlns:r="http://schemas.openxmlformats.org/officeDocument/2006/relationships" id="262" r:id="R5ab05f10919a4400"/>
    <p:sldId xmlns:r="http://schemas.openxmlformats.org/officeDocument/2006/relationships" id="263" r:id="R9cf6be120edf4f64"/>
    <p:sldId xmlns:r="http://schemas.openxmlformats.org/officeDocument/2006/relationships" id="264" r:id="R4bbadfe2e2a4451c"/>
    <p:sldId xmlns:r="http://schemas.openxmlformats.org/officeDocument/2006/relationships" id="265" r:id="Rf73a395846da4dd6"/>
    <p:sldId xmlns:r="http://schemas.openxmlformats.org/officeDocument/2006/relationships" id="266" r:id="R7b7a688655634950"/>
    <p:sldId xmlns:r="http://schemas.openxmlformats.org/officeDocument/2006/relationships" id="267" r:id="Raa0d1c8d9f5a41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250dd653354db8" /><Relationship Type="http://schemas.openxmlformats.org/officeDocument/2006/relationships/slideMaster" Target="/ppt/slideMasters/slideMaster1.xml" Id="R72b1dc06f9484f89" /><Relationship Type="http://schemas.openxmlformats.org/officeDocument/2006/relationships/notesMaster" Target="/ppt/notesMasters/notesMaster1.xml" Id="Rb2b89ed486214da8" /><Relationship Type="http://schemas.openxmlformats.org/officeDocument/2006/relationships/presProps" Target="/ppt/presProps.xml" Id="R56f7e8e2811a4078" /><Relationship Type="http://schemas.openxmlformats.org/officeDocument/2006/relationships/tableStyles" Target="/ppt/tableStyles.xml" Id="Rf0ba827dd6da46c9" /><Relationship Type="http://schemas.openxmlformats.org/officeDocument/2006/relationships/slide" Target="/ppt/slides/slide1.xml" Id="R8e35bbb685064f00" /><Relationship Type="http://schemas.openxmlformats.org/officeDocument/2006/relationships/slide" Target="/ppt/slides/slide2.xml" Id="Rc615590dafb349d2" /><Relationship Type="http://schemas.openxmlformats.org/officeDocument/2006/relationships/slide" Target="/ppt/slides/slide3.xml" Id="R913e5f8219784368" /><Relationship Type="http://schemas.openxmlformats.org/officeDocument/2006/relationships/slide" Target="/ppt/slides/slide4.xml" Id="R0c6cf9afa98c460e" /><Relationship Type="http://schemas.openxmlformats.org/officeDocument/2006/relationships/slide" Target="/ppt/slides/slide5.xml" Id="Re0091f4f600440a6" /><Relationship Type="http://schemas.openxmlformats.org/officeDocument/2006/relationships/slide" Target="/ppt/slides/slide6.xml" Id="Ra833ec888bbb4d4e" /><Relationship Type="http://schemas.openxmlformats.org/officeDocument/2006/relationships/slide" Target="/ppt/slides/slide7.xml" Id="R5ab05f10919a4400" /><Relationship Type="http://schemas.openxmlformats.org/officeDocument/2006/relationships/slide" Target="/ppt/slides/slide8.xml" Id="R9cf6be120edf4f64" /><Relationship Type="http://schemas.openxmlformats.org/officeDocument/2006/relationships/slide" Target="/ppt/slides/slide9.xml" Id="R4bbadfe2e2a4451c" /><Relationship Type="http://schemas.openxmlformats.org/officeDocument/2006/relationships/slide" Target="/ppt/slides/slide10.xml" Id="Rf73a395846da4dd6" /><Relationship Type="http://schemas.openxmlformats.org/officeDocument/2006/relationships/slide" Target="/ppt/slides/slide11.xml" Id="R7b7a688655634950" /><Relationship Type="http://schemas.openxmlformats.org/officeDocument/2006/relationships/slide" Target="/ppt/slides/slide12.xml" Id="Raa0d1c8d9f5a41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e0b6150a59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15910175434489" /><Relationship Type="http://schemas.openxmlformats.org/officeDocument/2006/relationships/notesMaster" Target="/ppt/notesMasters/notesMaster1.xml" Id="Re3adcb42135a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74f918f3324cbc" /><Relationship Type="http://schemas.openxmlformats.org/officeDocument/2006/relationships/notesMaster" Target="/ppt/notesMasters/notesMaster1.xml" Id="R7fea25cd2e8642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817864562940da" /><Relationship Type="http://schemas.openxmlformats.org/officeDocument/2006/relationships/notesMaster" Target="/ppt/notesMasters/notesMaster1.xml" Id="Ra1be0dadeb384a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cb1a940414453" /><Relationship Type="http://schemas.openxmlformats.org/officeDocument/2006/relationships/notesMaster" Target="/ppt/notesMasters/notesMaster1.xml" Id="R03eff3df48f84c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16d9ba6e9a4cef" /><Relationship Type="http://schemas.openxmlformats.org/officeDocument/2006/relationships/notesMaster" Target="/ppt/notesMasters/notesMaster1.xml" Id="R74d89317aef845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de1e884b9745d2" /><Relationship Type="http://schemas.openxmlformats.org/officeDocument/2006/relationships/notesMaster" Target="/ppt/notesMasters/notesMaster1.xml" Id="Re0a6b6065e7f46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078f58897d4bf2" /><Relationship Type="http://schemas.openxmlformats.org/officeDocument/2006/relationships/notesMaster" Target="/ppt/notesMasters/notesMaster1.xml" Id="Raf4934a64a5e45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ab085c304c482b" /><Relationship Type="http://schemas.openxmlformats.org/officeDocument/2006/relationships/notesMaster" Target="/ppt/notesMasters/notesMaster1.xml" Id="R1f6c5dc11bd74d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30977fa2b64a8a" /><Relationship Type="http://schemas.openxmlformats.org/officeDocument/2006/relationships/notesMaster" Target="/ppt/notesMasters/notesMaster1.xml" Id="R929d21fc881940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4a1341e8844bf4" /><Relationship Type="http://schemas.openxmlformats.org/officeDocument/2006/relationships/notesMaster" Target="/ppt/notesMasters/notesMaster1.xml" Id="R0eb2e3b6a5e145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2f4f7d51ac4bdd" /><Relationship Type="http://schemas.openxmlformats.org/officeDocument/2006/relationships/notesMaster" Target="/ppt/notesMasters/notesMaster1.xml" Id="R70f98fb2d58a4d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844ed797ec44d7" /><Relationship Type="http://schemas.openxmlformats.org/officeDocument/2006/relationships/notesMaster" Target="/ppt/notesMasters/notesMaster1.xml" Id="R291a96ff0e3d44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product promise: communities can prioritize work, fund it, and release escrow only after public milestone evidence passes the contract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- https://starpost-signals.vercel.app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around coordination and trust. Starpost does not claim to solve the global development finance gap; it targets the narrower workflow between community intent, milestone evidence, and controlled payout.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https://desapublications.un.org/publications/financing-sustainable-development-report-2026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separation of concerns. The Level 5 release adds onboarding and evidence collection; it does not replace the deployed Registry and Escrow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from vote to payout. Emphasize that user-visible success appears only after RPC confirmation and that Explorer links make each action independently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- https://developers.stellar.org/docs/build/smart-contracts/overview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screenshots to show the preserved Level 2 Signals poll, the Level 4 proof surface, and the responsive grant workflow. If presenting live, switch to the current deployment after this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https://starpost-signals.vercel.app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evidence honestly. Ten Level 4 participants are preserved as baseline proof and do not count toward the new 50-person campaign. The Level 5 counter remains zero until authentic responses pass the verifier.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implemented campaign infrastructure from future feedback-driven releases. The final submission will count only changes that originate in authentic Level 5 feedback and include a direct commit plus before/after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these as adjacent market signals. The opportunity thesis is that large, cross-border pools of capital need clearer coordination and proof, but Starpost has not yet validated a commercial market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https://desapublications.un.org/publications/financing-sustainable-development-report-2026</a:t>
            </a:r>
          </a:p>
          <a:p xmlns:a="http://schemas.openxmlformats.org/drawingml/2006/main">
            <a:r>
              <a:t>- https://blogs.worldbank.org/en/peoplemove/in-2024--remittance-flows-to-low--and-middle-income-countries-ar</a:t>
            </a:r>
          </a:p>
          <a:p xmlns:a="http://schemas.openxmlformats.org/drawingml/2006/main">
            <a:r>
              <a:t>- https://stellar.org/blog/foundation-news/2025-year-in-review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trust boundary from left to right. Wallets authorize. RPC and contracts are authoritative. The indexer, evidence store, and telemetry support discovery and growth but cannot move funds.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- https://developers.stellar.org/docs/build/smart-contracts/overview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overstate security. Contract tests and layered controls reduce risk, but the system is Testnet software without an independent audit. Public wallet activity and contract TTL are operational realities.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- https://developers.stellar.org/docs/learn/fundamentals/fees-resource-limits-metering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campaign is gated. Invalid records are replaced rather than counted. At least ten participants complete deeper actions, collectively including contribution and one creator/reviewer/approval/payout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specific ask: introductions to real testers and community partners, plus ecosystem feedback on the proof-to-payout model. The deck and code are ready; the 50-person campaign and final video remain authentic human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https://starpost-signals.vercel.app</a:t>
            </a:r>
          </a:p>
          <a:p xmlns:a="http://schemas.openxmlformats.org/drawingml/2006/main">
            <a:r>
              <a:t>- https://github.com/EkinOnat/starpost-signals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c096e568c4f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8231d22c354827" /><Relationship Type="http://schemas.openxmlformats.org/officeDocument/2006/relationships/slideLayout" Target="/ppt/slideLayouts/slideLayout1.xml" Id="R38b917d2292a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b917d2292a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daf88bf394fb1" /><Relationship Type="http://schemas.openxmlformats.org/officeDocument/2006/relationships/notesSlide" Target="/ppt/notesSlides/notesSlide1.xml" Id="Rb2199a3b9d4443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edd92fbd74d20" /><Relationship Type="http://schemas.openxmlformats.org/officeDocument/2006/relationships/notesSlide" Target="/ppt/notesSlides/notesSlide2.xml" Id="Re038b3f035904c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bb7470e554bde" /><Relationship Type="http://schemas.openxmlformats.org/officeDocument/2006/relationships/notesSlide" Target="/ppt/notesSlides/notesSlide3.xml" Id="Rcbf41830ea3b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e50718bf6437f" /><Relationship Type="http://schemas.openxmlformats.org/officeDocument/2006/relationships/notesSlide" Target="/ppt/notesSlides/notesSlide4.xml" Id="Rad057df681374d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45ff336024a3f" /><Relationship Type="http://schemas.openxmlformats.org/officeDocument/2006/relationships/image" Target="/ppt/media/image.jpeg" Id="Ree0956ddd0af487c" /><Relationship Type="http://schemas.openxmlformats.org/officeDocument/2006/relationships/image" Target="/ppt/media/image2.jpeg" Id="R3cebd32df2ec440d" /><Relationship Type="http://schemas.openxmlformats.org/officeDocument/2006/relationships/image" Target="/ppt/media/image.png" Id="R7e4e82ccbac84860" /><Relationship Type="http://schemas.openxmlformats.org/officeDocument/2006/relationships/notesSlide" Target="/ppt/notesSlides/notesSlide5.xml" Id="R995456a5b64849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b2a27f8474d3b" /><Relationship Type="http://schemas.openxmlformats.org/officeDocument/2006/relationships/notesSlide" Target="/ppt/notesSlides/notesSlide6.xml" Id="R6c4de96ef23940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f38b656124172" /><Relationship Type="http://schemas.openxmlformats.org/officeDocument/2006/relationships/notesSlide" Target="/ppt/notesSlides/notesSlide7.xml" Id="R1cbd69da0ed948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ba1de51c149e1" /><Relationship Type="http://schemas.openxmlformats.org/officeDocument/2006/relationships/notesSlide" Target="/ppt/notesSlides/notesSlide8.xml" Id="Rcfc0113754bc4c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77c2270764c0b" /><Relationship Type="http://schemas.openxmlformats.org/officeDocument/2006/relationships/notesSlide" Target="/ppt/notesSlides/notesSlide9.xml" Id="R74df87e491f141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19942ac354685" /><Relationship Type="http://schemas.openxmlformats.org/officeDocument/2006/relationships/notesSlide" Target="/ppt/notesSlides/notesSlide10.xml" Id="R3c2e6a51f8d943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63ebabb564d44" /><Relationship Type="http://schemas.openxmlformats.org/officeDocument/2006/relationships/notesSlide" Target="/ppt/notesSlides/notesSlide11.xml" Id="Rae45ed54016c4b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3211853e4e08" /><Relationship Type="http://schemas.openxmlformats.org/officeDocument/2006/relationships/notesSlide" Target="/ppt/notesSlides/notesSlide12.xml" Id="R05bb64d1943d47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6B597-9506-48B1-8712-8A4779A9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D2743-370F-4E44-B580-B61C0BA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57250"/>
            <a:ext cx="19050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FC527-78AB-4872-BC98-67E97E2F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430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A7C0B-A456-43A6-88FA-78B30DF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621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E3FE7-81CF-4655-843E-16D7F35A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STARPOST SIGNALS  ·  LEVEL 5 BLUE BELT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97093-6343-4D9A-99B8-15D8EC00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19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Every grant should</a:t>
            </a:r>
          </a:p>
          <a:p xmlns:a="http://schemas.openxmlformats.org/drawingml/2006/main">
            <a:pPr algn="l">
              <a:defRPr sz="54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earn its payout.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58011-04FA-4D17-BDE3-C1B65400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600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7D1D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7D1D5"/>
                </a:solidFill>
                <a:latin typeface="Arial"/>
                <a:ea typeface="Arial"/>
                <a:cs typeface="Arial"/>
              </a:rPr>
              <a:t>Community preference becomes transparent, milestone-controlled funding on Stellar Testnet.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1FD17-64CE-4443-85BC-8D5DBE29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D1162-DBB4-42BC-9DCC-7FF5FABA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Signal  →  Fund  →  Prove  →  Approve  →  Payout</a:t>
            </a:r>
          </a:p>
        </p:txBody>
      </p:sp>
    </p:spTree>
    <p:extLst>
      <p:ext uri="{BB962C8B-B14F-4D97-AF65-F5344CB8AC3E}">
        <p14:creationId xmlns:p14="http://schemas.microsoft.com/office/powerpoint/2010/main" val="743112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D4242-BFC3-4EDC-9C0B-3A1541C2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THE COORDINATION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7BDB5-763C-489E-B8C3-1EDC6E10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B2B1B-C251-41B1-9089-10A69F10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990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Community funding loses trust between promise and payout.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0427C-70E1-4875-9AB2-0CC891DB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023FD-9B28-4B09-BA13-0DC8CE61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77CD7-3623-4DD2-B527-4488B2DB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Priority is noisy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C160D-EFBF-4C55-8C8B-1070265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895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Votes, chats, and donor intent live in different tools, so the strongest signal is hard to preserve.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68627-4252-40C6-BD0F-08B8C17B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00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62FE7-DDDF-460B-8D0D-4E4A5715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4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25BE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25B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3CBE5-1A0B-4A53-9D3A-5236BD97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00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Progress is opaque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FC94E-9D95-46C8-AECF-0C5B5ACD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62400"/>
            <a:ext cx="2895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Updates arrive as links and screenshots without a durable chain from milestone to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49D06-1AA2-4DFA-9B78-38159DA9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73368-B919-4B6D-8D13-9471EF0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C6FE5-07D7-4CD2-B4D8-666C49C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Payout is binary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E8F9A-8DCF-482E-B635-1DD4007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95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Funds often move upfront or remain stuck while contributors debate whether the work is complete.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1276A-2934-45B1-AD0B-B3E93655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The product opportunity is not another donation page—it is a shared, inspectable decision trail.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051C4-00D2-4418-8F8D-7378668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216FE-EEAE-4101-87B9-03273BB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Problem statement · community groups, NGOs, diaspora initiatives, and university clubs</a:t>
            </a:r>
          </a:p>
        </p:txBody>
      </p:sp>
    </p:spTree>
    <p:extLst>
      <p:ext uri="{BB962C8B-B14F-4D97-AF65-F5344CB8AC3E}">
        <p14:creationId xmlns:p14="http://schemas.microsoft.com/office/powerpoint/2010/main" val="1726311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BACD8-191E-4315-86F5-418B51FD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E9E9A-72C5-497B-8F59-6C32B9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F7246-56B0-4EC4-AE89-68A23764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7F9AD-0D68-4AB5-874D-4EBAE83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4E4BC-22D7-45D3-8CF3-CE43A6B8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One public workflow connects the crowd’s signal to the payout rule.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7A52-2673-47E6-AD6F-D6B62F0A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476250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E4033-4705-48A3-B284-07607746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F963F-FEAE-40C2-A10C-F4D9B46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33581-7102-42DA-A50F-CFA73248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4CFD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4CFD4"/>
                </a:solidFill>
                <a:latin typeface="Arial"/>
                <a:ea typeface="Arial"/>
                <a:cs typeface="Arial"/>
              </a:rPr>
              <a:t>One wallet records one category preference on-chain.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B9594-56D0-40A9-9641-F030F9E6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C7F7-E777-4918-95D7-6C39A9A5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Fund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E1D60-3DC2-48B2-B9BE-C58CE98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4CFD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4CFD4"/>
                </a:solidFill>
                <a:latin typeface="Arial"/>
                <a:ea typeface="Arial"/>
                <a:cs typeface="Arial"/>
              </a:rPr>
              <a:t>Contributors deposit Testnet XLM into project escrow.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D22CA-731D-4C07-8174-11A33DBC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51530-0D03-432A-A809-810E93A5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AB053-44F2-445E-848A-23C70F35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4CFD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4CFD4"/>
                </a:solidFill>
                <a:latin typeface="Arial"/>
                <a:ea typeface="Arial"/>
                <a:cs typeface="Arial"/>
              </a:rPr>
              <a:t>Evidence, reviewers, contributor votes, and contract thresholds control release.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7A2AE-B5EC-4C1C-869E-AE2D586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9800"/>
            <a:ext cx="605790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626E2-7F8B-4504-86B5-C9245EF7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25B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25BE8"/>
                </a:solidFill>
                <a:latin typeface="Arial"/>
                <a:ea typeface="Arial"/>
                <a:cs typeface="Arial"/>
              </a:rPr>
              <a:t>What the user sees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A6A32-5BA1-4C76-9BB6-581C4B23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A guided action,</a:t>
            </a:r>
          </a:p>
          <a:p xmlns:a="http://schemas.openxmlformats.org/drawingml/2006/main">
            <a:pPr algn="l">
              <a:defRPr sz="30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a confirmed receipt,</a:t>
            </a:r>
          </a:p>
          <a:p xmlns:a="http://schemas.openxmlformats.org/drawingml/2006/main">
            <a:pPr algn="l">
              <a:defRPr sz="30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and a public proof link.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941E9-D68B-4785-81A5-B40BEF38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D8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5B7D3-DB4C-4AAE-9784-73D88EEE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578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The frontend guides. The wallet authorizes. The contracts decide.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D01B0-323E-4989-8A77-FB01F6BF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CF9C4-6258-489C-A04A-03D57D18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Solution · additive Level 5 onboarding preserves every existing contract and transaction interface</a:t>
            </a:r>
          </a:p>
        </p:txBody>
      </p:sp>
    </p:spTree>
    <p:extLst>
      <p:ext uri="{BB962C8B-B14F-4D97-AF65-F5344CB8AC3E}">
        <p14:creationId xmlns:p14="http://schemas.microsoft.com/office/powerpoint/2010/main" val="655026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60C0D4-BC12-400C-98D0-FC9BD2CE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SIGNAL TO PAYOUT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CE60C-46A3-49B9-A428-B81FC5D8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F398D-0172-4689-BCCB-290D1492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971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Five on-chain stages make the decision trail inspectable.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826DB-1700-406A-9A9F-35A967E6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4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ADCF9-D301-42EE-807E-10FC9AFD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A265A-6087-41A5-B99D-BE257FF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BA644-4721-4FFB-90D9-15B5ADC6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78144-5334-4744-AB72-589C11B3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0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0C7"/>
                </a:solidFill>
                <a:latin typeface="Arial"/>
                <a:ea typeface="Arial"/>
                <a:cs typeface="Arial"/>
              </a:rPr>
              <a:t>One-wallet vote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5BB72-3980-4CCF-B17C-99D458E4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A224A-28A8-4BB5-8D51-681CDE0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48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0C07B-97F8-4A50-9733-E90B494C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81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FUND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342E1-5269-4A9E-ABD7-6972833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005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0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0C7"/>
                </a:solidFill>
                <a:latin typeface="Arial"/>
                <a:ea typeface="Arial"/>
                <a:cs typeface="Arial"/>
              </a:rPr>
              <a:t>Escrowed XLM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B939D-4EE1-4D9B-B672-1E3B4D3A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62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93E2F-643C-4E95-8C18-ED42FB25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48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EC2BE-2071-4092-AB7A-C699BBBD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81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DEF50-B625-4997-A45B-8B27EA7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005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0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0C7"/>
                </a:solidFill>
                <a:latin typeface="Arial"/>
                <a:ea typeface="Arial"/>
                <a:cs typeface="Arial"/>
              </a:rPr>
              <a:t>Hashed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A0964-A685-4EC8-8FE7-FEE115D5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62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B0E7D-CBEF-4EA1-A544-22190CB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48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22241-8C8F-4FB1-8D25-D718932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81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08407-29FC-4A02-854B-41DD8233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0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0C7"/>
                </a:solidFill>
                <a:latin typeface="Arial"/>
                <a:ea typeface="Arial"/>
                <a:cs typeface="Arial"/>
              </a:rPr>
              <a:t>Role + quorum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1A40C-1DFE-4C08-917C-3A68E4A3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62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BD82A-676B-4A4A-A101-28A2046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48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886C3-C1FE-46B2-8240-FE2A7462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81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PAYOUT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2A545-6A59-4CE5-A213-2801164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005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0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0C7"/>
                </a:solidFill>
                <a:latin typeface="Arial"/>
                <a:ea typeface="Arial"/>
                <a:cs typeface="Arial"/>
              </a:rPr>
              <a:t>Exact milestone 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3EC181-E806-4907-B340-4704C2AF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9D2C7-CB7B-41E0-9035-D8B27BDC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Every successful action ends with an RPC-confirmed transaction hash and Stellar Expert route.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F22B6-0500-40FC-9306-69217D0A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0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0C66C-A429-42C4-AA82-685D94D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8B6B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8B6BC"/>
                </a:solidFill>
                <a:latin typeface="Arial"/>
                <a:ea typeface="Arial"/>
                <a:cs typeface="Arial"/>
              </a:rPr>
              <a:t>Workflow · contract state is authoritative; telemetry and indexer data are never payout authority</a:t>
            </a:r>
          </a:p>
        </p:txBody>
      </p:sp>
    </p:spTree>
    <p:extLst>
      <p:ext uri="{BB962C8B-B14F-4D97-AF65-F5344CB8AC3E}">
        <p14:creationId xmlns:p14="http://schemas.microsoft.com/office/powerpoint/2010/main" val="15439345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C2640-EE81-4CA4-A38F-3939485B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281F6-A1DB-4201-B310-44D11D9F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B3EEA-0043-4EFB-97BA-3ECED29E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93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The product already spans signal, grant, and proof-to-payout flows.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956ddd0af487c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000250"/>
            <a:ext cx="5191125" cy="2924175"/>
          </a:xfrm>
          <a:prstGeom xmlns:a="http://schemas.openxmlformats.org/drawingml/2006/main" prst="roundRect">
            <a:avLst>
              <a:gd name="adj" fmla="val 2606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bd32df2ec440d"/>
          <a:srcRect xmlns:a="http://schemas.openxmlformats.org/drawingml/2006/main" l="0" t="10914" r="0" b="10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2000250"/>
            <a:ext cx="3905250" cy="2924175"/>
          </a:xfrm>
          <a:prstGeom xmlns:a="http://schemas.openxmlformats.org/drawingml/2006/main" prst="roundRect">
            <a:avLst>
              <a:gd name="adj" fmla="val 2606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e82ccbac84860"/>
          <a:srcRect xmlns:a="http://schemas.openxmlformats.org/drawingml/2006/main" l="0" t="28475" r="0" b="28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0" y="2000250"/>
            <a:ext cx="1638300" cy="2924175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F0E05-EF19-4E43-B7E6-C19C6330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AF63B-BE51-44B5-85BE-71CC1009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24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120AB-AAD6-47A3-95F0-A8C6621B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24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390px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230BC-24D0-40B3-90D4-78CAF620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Public Testnet interface with real contract addresses, wallet signatures, responsive layouts, and Explorer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BEFF1-B529-4932-BF1C-023FEF0E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C8AF2-FFED-4436-B9F0-0A328BE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Live application · starpost-signals.vercel.app</a:t>
            </a:r>
          </a:p>
        </p:txBody>
      </p:sp>
    </p:spTree>
    <p:extLst>
      <p:ext uri="{BB962C8B-B14F-4D97-AF65-F5344CB8AC3E}">
        <p14:creationId xmlns:p14="http://schemas.microsoft.com/office/powerpoint/2010/main" val="1193090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EC112-3442-4DCA-B112-86576814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TRACTION AND LEVEL 5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BA82A-BF42-4A6E-923E-C4DB50BA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BB9C5-8A3F-4EA1-B0C2-934B5D46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Proof exists today; Level 5 adds scale—not fabricated traction.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619BD-5588-45D1-AED2-520815EE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1E650-DD58-4A3F-893C-B6B0A72F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B293C-2BAF-47E1-B7BD-2B8FC267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independent Level 4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0F808-B83D-400B-AB6F-C61A72C5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38375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D67EA-328D-4F2E-813C-D979649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725BE8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725B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D3DB9-5CC2-4A79-B443-A1BB77D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86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unique successful votes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CC343-6DF0-49C2-9C47-D5F158E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4DDDB-E9BF-4366-9C80-F5D3BEE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88A6D-B14A-42FE-B646-4573EECA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verification failures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869BA-5DF1-46E7-8F90-799ACB24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4CB85-7893-4588-A157-D675B1D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LEVEL 5 COHORT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59AFD-6F0B-4FEE-97D5-4EDDE66F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0 / 50 qualified new participants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DFF7E-6A8E-4166-8516-0E6D24E3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0CCD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0CCD1"/>
                </a:solidFill>
                <a:latin typeface="Arial"/>
                <a:ea typeface="Arial"/>
                <a:cs typeface="Arial"/>
              </a:rPr>
              <a:t>Pending authentic recruitment, consented Forms, and verified transactions.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76066-FF1D-4F0F-8952-2B65BED3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35A2C-F018-4C39-8898-3F3865D7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Evidence standard · unique person, email, wallet, Form, consent, approved contract, and successful transaction</a:t>
            </a:r>
          </a:p>
        </p:txBody>
      </p:sp>
    </p:spTree>
    <p:extLst>
      <p:ext uri="{BB962C8B-B14F-4D97-AF65-F5344CB8AC3E}">
        <p14:creationId xmlns:p14="http://schemas.microsoft.com/office/powerpoint/2010/main" val="1211300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ABF24-BAEA-4617-9C24-5A6BFB97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FEEDBACK AND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C573F-F41E-4CA6-8D89-898CC20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429B4-2292-4254-BC49-9F578AFB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Feedback is now a release gate, not a collection of anecdotes.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8953F-8B68-4C8A-A177-5AD95D48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12F8-F8EB-48E6-B8B1-F07A857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EEB62-3C84-4CEF-BF67-8A2241B5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50CE3-72C8-483F-B29A-912E6A18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ONBOARD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F7913-FE1C-48DA-AD30-2FC4905C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role +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B0F63-809A-4C06-92C0-B905E330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581A2-0B52-49D6-BC31-5191B7FA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7B5A7-AD77-4E42-B825-7F40B8F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357F4-6727-4EFF-9941-CA798EBF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19-field 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90F12-A2B4-4C1D-B6CF-4CF5B323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2A3E6-3F98-457C-A5B0-730ED9E6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9DF65-DEBC-4EF1-97D3-9069DDDC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C356A-E8E3-4AF8-AB61-7F4FF000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identity + chain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558BC-DDB8-4A46-8F44-6323BB69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AC0B4-4A86-44D4-A528-1364B671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D7A49-71AC-49B7-AE35-324845E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7AE86-7FB5-4ABA-934B-B6A19297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frequency +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03C08-F1E3-46CA-9C78-3927D458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D2C72-7359-4B03-B474-F61626A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95C5F-ACDB-4FF6-A8C9-7B212434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4C3F8-F3EA-4A66-9754-BF726191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commit + before/after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34231-33D2-4042-90C8-E56EAB9C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7273A-9242-4F86-B951-2D1BE465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Already shipped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22CDA-FF39-4D82-966E-3AFDA131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Guided roles · wallet readiness · Friendbot funding · confirmed proof handoff · aggregate funnel events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B71B2-065A-4FD1-A816-F4557FB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5676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A8D852-4962-4B8D-B85D-306E943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55E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55E10"/>
                </a:solidFill>
                <a:latin typeface="Arial"/>
                <a:ea typeface="Arial"/>
                <a:cs typeface="Arial"/>
              </a:rPr>
              <a:t>Unlocks after Wave 1 and Wave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8B84C-0B89-4F28-B613-F17F3A7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Two Level 5 feedback-derived releases with direct Git commit links and measured before/after results.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591767-B0CB-4E6B-BAD2-A262C783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5068A-B161-4F3A-80B3-8E183BC1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Deterministic priority · blockers first, then ≥3 mentions or mean score &lt;4.0, then frequency / rating / effort</a:t>
            </a:r>
          </a:p>
        </p:txBody>
      </p:sp>
    </p:spTree>
    <p:extLst>
      <p:ext uri="{BB962C8B-B14F-4D97-AF65-F5344CB8AC3E}">
        <p14:creationId xmlns:p14="http://schemas.microsoft.com/office/powerpoint/2010/main" val="1093240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29F7A-F767-4754-BA7B-D7715225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MARKET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BBEE6-FF0B-4FC0-ADB1-696BF65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616E4-52D0-4677-9EFE-EDCF37D8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The wedge sits where development funding, diaspora flows, and transparent rails meet.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C9599-ECF6-48AD-B9FB-DCFEF698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3429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EBA6D-044A-47BA-9AE8-EBFF0A8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$4T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DC22D-3CD4-4C60-88D2-0C4B4A8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annual SDG financing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A8283-3B10-46A6-9F6F-4BB4A249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developing countries · UN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8DA03-976E-4D36-B416-09B3DE4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3429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2923B-8B18-421A-A7A9-7EF13239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95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$685B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E90B8-F4A5-4A55-B971-91B5A187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43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remittances to LMICs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82A4B-D5B0-49C6-B807-10A0643A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6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2024 estimate · World Bank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C5A46-9E03-45ED-84ED-08676785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429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00390-0AA6-4AAE-9E40-8223035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$55.6B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99503-5294-426D-ACB2-AE2BD215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Stellar payment volume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4D8DD-6BCD-4049-8D47-0EDFB542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7C7C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7C7CE"/>
                </a:solidFill>
                <a:latin typeface="Arial"/>
                <a:ea typeface="Arial"/>
                <a:cs typeface="Arial"/>
              </a:rPr>
              <a:t>2025 · Stellar Development Foundation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AD546-B999-48E5-AF05-BE254BD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These figures establish context—not Starpost revenue or a claimed TAM. The initial market remains community-scale Testnet coordination.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81A31-E488-4764-88AF-BBEBC790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0E0B1-6C5E-41AA-AC94-4DF5C676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Beachhead · community groups, NGOs, diaspora initiatives, and university clubs</a:t>
            </a:r>
          </a:p>
        </p:txBody>
      </p:sp>
    </p:spTree>
    <p:extLst>
      <p:ext uri="{BB962C8B-B14F-4D97-AF65-F5344CB8AC3E}">
        <p14:creationId xmlns:p14="http://schemas.microsoft.com/office/powerpoint/2010/main" val="2046574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81AE9-26C2-4F81-989C-6B9F453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10528-7F2D-4E8F-BC51-72A855B2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66B74-9CF8-4471-9914-7D3C0A2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Financial authority stays on Stellar; growth services observe and guide.</a:t>
            </a:r>
          </a:p>
        </p:txBody>
      </p:sp>
      <p:sp>
        <p:nvSpPr>
          <p:cNvPr id="4" name="user-wallet">
            <a:extLst xmlns:a="http://schemas.openxmlformats.org/drawingml/2006/main">
              <a:ext uri="{FF2B5EF4-FFF2-40B4-BE49-F238E27FC236}">
                <a16:creationId xmlns:a16="http://schemas.microsoft.com/office/drawing/2014/main" id="{1884FDDA-A07D-410E-B14D-DF0EFC62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USER + WALLET</a:t>
            </a:r>
          </a:p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keys never enter app</a:t>
            </a:r>
          </a:p>
        </p:txBody>
      </p:sp>
      <p:sp>
        <p:nvSpPr>
          <p:cNvPr id="5" name="react-app">
            <a:extLst xmlns:a="http://schemas.openxmlformats.org/drawingml/2006/main">
              <a:ext uri="{FF2B5EF4-FFF2-40B4-BE49-F238E27FC236}">
                <a16:creationId xmlns:a16="http://schemas.microsoft.com/office/drawing/2014/main" id="{1B478CAD-6799-4AD1-B0B2-02B7DBB7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9D8BFF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REACT APP</a:t>
            </a:r>
          </a:p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guide · simulate · confirm</a:t>
            </a:r>
          </a:p>
        </p:txBody>
      </p:sp>
      <p:sp>
        <p:nvSpPr>
          <p:cNvPr id="6" name="stellar-rpc">
            <a:extLst xmlns:a="http://schemas.openxmlformats.org/drawingml/2006/main">
              <a:ext uri="{FF2B5EF4-FFF2-40B4-BE49-F238E27FC236}">
                <a16:creationId xmlns:a16="http://schemas.microsoft.com/office/drawing/2014/main" id="{BB487BBE-2148-417A-AA05-27EE6801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28875"/>
            <a:ext cx="1762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STELLAR RPC</a:t>
            </a:r>
          </a:p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source of truth</a:t>
            </a:r>
          </a:p>
        </p:txBody>
      </p:sp>
      <p:sp>
        <p:nvSpPr>
          <p:cNvPr id="7" name="registry">
            <a:extLst xmlns:a="http://schemas.openxmlformats.org/drawingml/2006/main">
              <a:ext uri="{FF2B5EF4-FFF2-40B4-BE49-F238E27FC236}">
                <a16:creationId xmlns:a16="http://schemas.microsoft.com/office/drawing/2014/main" id="{DC534383-A96A-433A-8352-62D8723D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1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4"/>
                </a:solidFill>
                <a:latin typeface="Arial"/>
                <a:ea typeface="Arial"/>
                <a:cs typeface="Arial"/>
              </a:rPr>
              <a:t>IMPACT REGISTRY V1</a:t>
            </a:r>
          </a:p>
          <a:p xmlns:a="http://schemas.openxmlformats.org/drawingml/2006/main">
            <a:pPr algn="ctr">
              <a:defRPr sz="1275" b="1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4"/>
                </a:solidFill>
                <a:latin typeface="Arial"/>
                <a:ea typeface="Arial"/>
                <a:cs typeface="Arial"/>
              </a:rPr>
              <a:t>milestones · evidence · decisions</a:t>
            </a:r>
          </a:p>
        </p:txBody>
      </p:sp>
      <p:sp>
        <p:nvSpPr>
          <p:cNvPr id="8" name="escrow">
            <a:extLst xmlns:a="http://schemas.openxmlformats.org/drawingml/2006/main">
              <a:ext uri="{FF2B5EF4-FFF2-40B4-BE49-F238E27FC236}">
                <a16:creationId xmlns:a16="http://schemas.microsoft.com/office/drawing/2014/main" id="{2C8EF30B-8E72-4241-A089-566DA475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1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4"/>
                </a:solidFill>
                <a:latin typeface="Arial"/>
                <a:ea typeface="Arial"/>
                <a:cs typeface="Arial"/>
              </a:rPr>
              <a:t>IMPACT ESCROW V1</a:t>
            </a:r>
          </a:p>
          <a:p xmlns:a="http://schemas.openxmlformats.org/drawingml/2006/main">
            <a:pPr algn="ctr">
              <a:defRPr sz="1275" b="1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AFAF4"/>
                </a:solidFill>
                <a:latin typeface="Arial"/>
                <a:ea typeface="Arial"/>
                <a:cs typeface="Arial"/>
              </a:rPr>
              <a:t>custody · exact release · refunds</a:t>
            </a:r>
          </a:p>
        </p:txBody>
      </p:sp>
      <p:sp>
        <p:nvSpPr>
          <p:cNvPr id="9" name="indexer">
            <a:extLst xmlns:a="http://schemas.openxmlformats.org/drawingml/2006/main">
              <a:ext uri="{FF2B5EF4-FFF2-40B4-BE49-F238E27FC236}">
                <a16:creationId xmlns:a16="http://schemas.microsoft.com/office/drawing/2014/main" id="{19B9C663-2B5C-4A01-A5C6-68302099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4448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INDEXER + EVIDENCE + AGGREGATE TELEMETRY</a:t>
            </a:r>
          </a:p>
          <a:p xmlns:a="http://schemas.openxmlformats.org/drawingml/2006/main">
            <a:pPr algn="ctr">
              <a:defRPr sz="1200" b="1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61D"/>
                </a:solidFill>
                <a:latin typeface="Arial"/>
                <a:ea typeface="Arial"/>
                <a:cs typeface="Arial"/>
              </a:rPr>
              <a:t>read-only services · degraded state never blocks transactions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66950" y="29527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6870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7750" y="2952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6870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305675" y="2438400"/>
            <a:ext cx="695325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A6870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05675" y="2952750"/>
            <a:ext cx="69532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A6870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>
            <a:off x="6424613" y="3476625"/>
            <a:ext cx="1109663" cy="16668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8DFF"/>
            </a:solidFill>
            <a:prstDash val="dash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2F317-D2BD-4CD7-A28A-AADA4ABE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C9F72-BFE0-41EC-B4BD-6C7FAF8F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Stellar / Soroban · Rust → Wasm contracts; React wallet client; HTTPS indexer and evidence service</a:t>
            </a:r>
          </a:p>
        </p:txBody>
      </p:sp>
    </p:spTree>
    <p:extLst>
      <p:ext uri="{BB962C8B-B14F-4D97-AF65-F5344CB8AC3E}">
        <p14:creationId xmlns:p14="http://schemas.microsoft.com/office/powerpoint/2010/main" val="1065676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8045A-1CC9-4DBF-9102-90FD74AD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SECURITY AND PAYOUT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02062-C546-4C76-9CF4-8795958E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68A9B-80E1-4EF5-9865-20F432C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Payout authority stays on-chain; the growth layer cannot move funds.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BF87F-26F0-4651-A841-D67FE87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D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37CA4-7E8F-4E6A-8434-67AEFAD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Wallet authorization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4CC0A-12EA-49CA-8A32-F609C41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C7C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C7CD"/>
                </a:solidFill>
                <a:latin typeface="Arial"/>
                <a:ea typeface="Arial"/>
                <a:cs typeface="Arial"/>
              </a:rPr>
              <a:t>Users review and sign; no recovery phrase or secret key enters the frontend.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93B3D-7EB2-4455-BCCA-73021A5B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D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C6DC5-B5E8-466A-B5A1-E587F45E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Confirmed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54166-6F1B-418F-AC46-16A83ABA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670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C7C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C7CD"/>
                </a:solidFill>
                <a:latin typeface="Arial"/>
                <a:ea typeface="Arial"/>
                <a:cs typeface="Arial"/>
              </a:rPr>
              <a:t>Simulation and submission are not shown as success until RPC returns SUCCESS.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FCCDE-1D98-4C35-86B4-4F26958A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85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D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98E5C-38E8-479C-AF9C-261FCD7E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Role separation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4262C-0BD1-488E-BA41-C427AC3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C7C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C7CD"/>
                </a:solidFill>
                <a:latin typeface="Arial"/>
                <a:ea typeface="Arial"/>
                <a:cs typeface="Arial"/>
              </a:rPr>
              <a:t>Reviewer, arbitrator, creator, and contributor rules prevent one UI path from bypassing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29A28-AFCB-46FB-A6C1-2CFDF82B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385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FF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1E9CA-6B62-409E-A552-4BEF5DFD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671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Exact accounting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A1819-F86C-4214-AFDD-DEF5DE0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624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C7C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C7CD"/>
                </a:solidFill>
                <a:latin typeface="Arial"/>
                <a:ea typeface="Arial"/>
                <a:cs typeface="Arial"/>
              </a:rPr>
              <a:t>Escrow releases only the approved milestone amount and preserves terminal refund paths.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712F0-B011-4A63-B02E-84836B70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A373A-65BE-4FE1-8513-5361F2C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RESIDUAL RISK  ·  Testnet only · no independent audit · TTL and public-wallet privacy require active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6BE8E-52E8-4F2F-8DCE-57FBE24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9C49F-3620-4964-885D-4311DF82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8B6B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8B6BC"/>
                </a:solidFill>
                <a:latin typeface="Arial"/>
                <a:ea typeface="Arial"/>
                <a:cs typeface="Arial"/>
              </a:rPr>
              <a:t>Security posture · transparent controls plus explicit limitations</a:t>
            </a:r>
          </a:p>
        </p:txBody>
      </p:sp>
    </p:spTree>
    <p:extLst>
      <p:ext uri="{BB962C8B-B14F-4D97-AF65-F5344CB8AC3E}">
        <p14:creationId xmlns:p14="http://schemas.microsoft.com/office/powerpoint/2010/main" val="11841507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AE493-C2F3-417B-B37F-261319E0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GROWTH AND RETENTION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78D0D-24D7-49A4-8C07-78C87772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69876-A34A-461D-8407-756FC836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Three waves turn onboarding data into two measurable product releases.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0505C-A6F4-41BC-A43E-D650313B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00438-334A-4ABC-BBE4-A5D62A12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3CB69-B242-42A3-88EA-09F1F3B0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FE8F2-9B23-4658-AE74-EE61668A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10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ECB11-2792-468D-8047-E85FF3B0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Fix every transaction blocker + most repeated usability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5608F-3371-45B9-AFC9-3926D00E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337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75433-0DFF-4FDB-8A5F-B95EB787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050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382AC-897C-4BF9-9DD3-290AAF1B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9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20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2B26B-E0B4-446A-B4B5-807DEF22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Compare funnel and ratings + ship the second priority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EC1A2-B7D4-4B1A-ADB6-2F540D2C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337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805E8-D6C2-453E-8543-37AB4F7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83160-4406-4C18-A815-20BC4724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9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20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96353-C7BA-4110-9B12-DB97BC50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1475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Validate the final release + close evidence collection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98B6B-59AD-4BE1-944F-CA383C3B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B3972-E96A-4162-B1B7-0BBEFB10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RETENTION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26F8D-A09F-492B-B880-D94ED5E2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3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Measure distinct repeat activity after seven days; report the real result even when it is zero.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469D3-1AA1-4FB2-B224-A6CC6125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DCCAC-FFA0-4D8A-B798-B116AE4E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Campaign target · exactly 50 qualified new users and at least 10 deeper lifecycle actions</a:t>
            </a:r>
          </a:p>
        </p:txBody>
      </p:sp>
    </p:spTree>
    <p:extLst>
      <p:ext uri="{BB962C8B-B14F-4D97-AF65-F5344CB8AC3E}">
        <p14:creationId xmlns:p14="http://schemas.microsoft.com/office/powerpoint/2010/main" val="13865260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02DF2-9A17-4B08-B11E-98301970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ROADMAP AND CLOSING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68929-D6FC-4880-BA38-42C814D3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93311-9CFD-40C4-8B9E-FA502E6E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Help Starpost prove 50 real people can coordinate one transparent grant.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5B0C1-8643-4909-B5F1-254B8C9E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D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7065E-AE37-4C49-8D38-37A3C64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7B652-5059-47A5-BB5D-5ABD315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Recruit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42DF4-CE3C-4998-B966-51A3351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Community and NGO testers across four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9C70E-2A4A-4275-AFC1-C13111BE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622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7DAD6-698B-449E-9987-CE9B62F0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098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89F54-C53F-4E81-A07B-9B776E3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670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0CC14-5C81-416D-A929-2385DDD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385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Two authentic feedback releases and seven-day repeat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4E6C7-D921-4F1A-97DE-0832F74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FF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5CB7E-A58A-4FAF-AEF2-3524F958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FD365-16E0-40B8-83B5-0855C8E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7161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7161D"/>
                </a:solidFill>
                <a:latin typeface="Arial"/>
                <a:ea typeface="Arial"/>
                <a:cs typeface="Arial"/>
              </a:rPr>
              <a:t>Expose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AF113-03D1-452C-874C-FB53D33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Ecosystem demos, pilot partners, and an independent security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6FD3C-FE82-40BD-ADC2-58303BF6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354E2-3B2D-43D8-9D8A-F129E176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10886-4746-45B0-B459-CDA4DC4B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starpost-signals.vercel.app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95537-27D8-44C3-A42F-92744719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FF3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8FF3E"/>
                </a:solidFill>
                <a:latin typeface="Arial"/>
                <a:ea typeface="Arial"/>
                <a:cs typeface="Arial"/>
              </a:rPr>
              <a:t>CODE +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5BACD-673D-46B7-B2F4-3C1200AC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435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AFAF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AFAF4"/>
                </a:solidFill>
                <a:latin typeface="Arial"/>
                <a:ea typeface="Arial"/>
                <a:cs typeface="Arial"/>
              </a:rPr>
              <a:t>github.com/EkinOnat/starpost-signals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48372-5FDD-48A2-A454-F427D979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5A316-318C-4649-B91F-EF690C7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A687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A6870"/>
                </a:solidFill>
                <a:latin typeface="Arial"/>
                <a:ea typeface="Arial"/>
                <a:cs typeface="Arial"/>
              </a:rPr>
              <a:t>Next phase · authentic cohort → feedback releases → recorded walkthrough → Blue Belt submission</a:t>
            </a:r>
          </a:p>
        </p:txBody>
      </p:sp>
    </p:spTree>
    <p:extLst>
      <p:ext uri="{BB962C8B-B14F-4D97-AF65-F5344CB8AC3E}">
        <p14:creationId xmlns:p14="http://schemas.microsoft.com/office/powerpoint/2010/main" val="565812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2026-08-22T12:39:56.3070000Z</dcterms:created>
  <dcterms:modified xsi:type="dcterms:W3CDTF">2026-08-22T12:39:56.3070000Z</dcterms:modified>
</coreProperties>
</file>